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8" r:id="rId3"/>
    <p:sldId id="261" r:id="rId4"/>
    <p:sldId id="257" r:id="rId5"/>
    <p:sldId id="267" r:id="rId6"/>
    <p:sldId id="318" r:id="rId7"/>
    <p:sldId id="273" r:id="rId8"/>
    <p:sldId id="319" r:id="rId9"/>
    <p:sldId id="280" r:id="rId10"/>
    <p:sldId id="320" r:id="rId11"/>
    <p:sldId id="284" r:id="rId12"/>
    <p:sldId id="321" r:id="rId13"/>
    <p:sldId id="286" r:id="rId14"/>
  </p:sldIdLst>
  <p:sldSz cx="9144000" cy="5143500" type="screen16x9"/>
  <p:notesSz cx="6858000" cy="9144000"/>
  <p:embeddedFontLst>
    <p:embeddedFont>
      <p:font typeface="PT Sans" panose="020B0604020202020204" charset="0"/>
      <p:regular r:id="rId16"/>
      <p:bold r:id="rId17"/>
      <p:italic r:id="rId18"/>
      <p:boldItalic r:id="rId19"/>
    </p:embeddedFont>
    <p:embeddedFont>
      <p:font typeface="Ex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F9B207-78F9-4974-8138-D78A9EDA07FF}">
  <a:tblStyle styleId="{85F9B207-78F9-4974-8138-D78A9EDA07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7" name="Google Shape;26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Google Shape;2734;gf11272de0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5" name="Google Shape;2735;gf11272de0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gedfa3e31c0_2_19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6" name="Google Shape;3156;gedfa3e31c0_2_196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Google Shape;3513;gedfa3e31c0_2_20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4" name="Google Shape;3514;gedfa3e31c0_2_20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9" name="Google Shape;3919;gedfa3e31c0_2_20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0" name="Google Shape;3920;gedfa3e31c0_2_20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gedfa3e31c0_2_20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5" name="Google Shape;4145;gedfa3e31c0_2_20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gedfa3e31c0_2_20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2" name="Google Shape;4292;gedfa3e31c0_2_209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405675"/>
            <a:ext cx="75663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440475"/>
            <a:ext cx="4644000" cy="3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1484975"/>
            <a:ext cx="21303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415875"/>
            <a:ext cx="4729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1323677"/>
            <a:ext cx="41661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6252"/>
            <a:ext cx="4166100" cy="19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59" r:id="rId5"/>
    <p:sldLayoutId id="2147483661" r:id="rId6"/>
    <p:sldLayoutId id="2147483662" r:id="rId7"/>
    <p:sldLayoutId id="2147483664" r:id="rId8"/>
    <p:sldLayoutId id="2147483666" r:id="rId9"/>
    <p:sldLayoutId id="2147483674" r:id="rId10"/>
    <p:sldLayoutId id="214748367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33"/>
          <p:cNvSpPr/>
          <p:nvPr/>
        </p:nvSpPr>
        <p:spPr>
          <a:xfrm>
            <a:off x="1192107" y="3329973"/>
            <a:ext cx="6634293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p33"/>
          <p:cNvSpPr txBox="1">
            <a:spLocks noGrp="1"/>
          </p:cNvSpPr>
          <p:nvPr>
            <p:ph type="subTitle" idx="1"/>
          </p:nvPr>
        </p:nvSpPr>
        <p:spPr>
          <a:xfrm>
            <a:off x="1317600" y="3376773"/>
            <a:ext cx="644464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/>
            <a:r>
              <a:rPr lang="bs-Latn-BA" dirty="0" smtClean="0"/>
              <a:t> Mentor: Efnan Dugalić, prof.                 Učenik: Ajla Stranjak, </a:t>
            </a:r>
            <a:r>
              <a:rPr lang="bs-Latn-BA" dirty="0"/>
              <a:t>IV</a:t>
            </a:r>
            <a:r>
              <a:rPr lang="bs-Latn-BA" baseline="-25000" dirty="0"/>
              <a:t>2</a:t>
            </a:r>
            <a:endParaRPr dirty="0"/>
          </a:p>
        </p:txBody>
      </p:sp>
      <p:grpSp>
        <p:nvGrpSpPr>
          <p:cNvPr id="2661" name="Google Shape;2661;p33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62" name="Google Shape;2662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8" name="Google Shape;2668;p33"/>
          <p:cNvGrpSpPr/>
          <p:nvPr/>
        </p:nvGrpSpPr>
        <p:grpSpPr>
          <a:xfrm rot="-5400000" flipH="1">
            <a:off x="3660492" y="5078273"/>
            <a:ext cx="1823016" cy="296643"/>
            <a:chOff x="7857346" y="3902355"/>
            <a:chExt cx="1823016" cy="296643"/>
          </a:xfrm>
        </p:grpSpPr>
        <p:sp>
          <p:nvSpPr>
            <p:cNvPr id="2669" name="Google Shape;2669;p3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3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3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3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5" name="Google Shape;2675;p33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676" name="Google Shape;2676;p3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1" name="Google Shape;2681;p33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682" name="Google Shape;2682;p3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83" name="Google Shape;2683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3" name="Google Shape;2693;p3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694" name="Google Shape;2694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4" name="Google Shape;2704;p33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05" name="Google Shape;2705;p3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9" name="Google Shape;2719;p33"/>
          <p:cNvSpPr txBox="1">
            <a:spLocks noGrp="1"/>
          </p:cNvSpPr>
          <p:nvPr>
            <p:ph type="ctrTitle"/>
          </p:nvPr>
        </p:nvSpPr>
        <p:spPr>
          <a:xfrm>
            <a:off x="1317600" y="921007"/>
            <a:ext cx="6508800" cy="19970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5800" dirty="0" smtClean="0">
                <a:solidFill>
                  <a:schemeClr val="accent2"/>
                </a:solidFill>
              </a:rPr>
              <a:t>MATURSKI RAD</a:t>
            </a:r>
            <a:r>
              <a:rPr lang="en" sz="5800" dirty="0" smtClean="0">
                <a:solidFill>
                  <a:schemeClr val="accent2"/>
                </a:solidFill>
              </a:rPr>
              <a:t> </a:t>
            </a:r>
            <a:r>
              <a:rPr lang="en" sz="7700" dirty="0" smtClean="0"/>
              <a:t> </a:t>
            </a:r>
            <a:r>
              <a:rPr lang="bs-Latn-BA" sz="5000" dirty="0" smtClean="0"/>
              <a:t>DESKTOP APLKACIJA ZA PRODAJU ODJEĆE</a:t>
            </a:r>
            <a:endParaRPr sz="5000" dirty="0"/>
          </a:p>
        </p:txBody>
      </p:sp>
      <p:sp>
        <p:nvSpPr>
          <p:cNvPr id="64" name="Google Shape;2660;p33"/>
          <p:cNvSpPr txBox="1">
            <a:spLocks/>
          </p:cNvSpPr>
          <p:nvPr/>
        </p:nvSpPr>
        <p:spPr>
          <a:xfrm>
            <a:off x="1346985" y="3951048"/>
            <a:ext cx="644464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2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2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2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2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2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2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2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T Sans"/>
              <a:buNone/>
              <a:defRPr sz="2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bs-Latn-BA" dirty="0" smtClean="0"/>
              <a:t>Mostar, maj 2022. godine</a:t>
            </a:r>
            <a:endParaRPr lang="bs-Latn-B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p35"/>
          <p:cNvSpPr/>
          <p:nvPr/>
        </p:nvSpPr>
        <p:spPr>
          <a:xfrm>
            <a:off x="3391800" y="3554992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35"/>
          <p:cNvSpPr/>
          <p:nvPr/>
        </p:nvSpPr>
        <p:spPr>
          <a:xfrm>
            <a:off x="6070500" y="3554992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35"/>
          <p:cNvSpPr/>
          <p:nvPr/>
        </p:nvSpPr>
        <p:spPr>
          <a:xfrm>
            <a:off x="713100" y="3554992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0" name="Google Shape;2740;p35"/>
          <p:cNvSpPr/>
          <p:nvPr/>
        </p:nvSpPr>
        <p:spPr>
          <a:xfrm>
            <a:off x="3391800" y="1919607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1" name="Google Shape;2741;p35"/>
          <p:cNvSpPr/>
          <p:nvPr/>
        </p:nvSpPr>
        <p:spPr>
          <a:xfrm>
            <a:off x="6070500" y="1919607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2" name="Google Shape;2742;p35"/>
          <p:cNvSpPr/>
          <p:nvPr/>
        </p:nvSpPr>
        <p:spPr>
          <a:xfrm>
            <a:off x="713100" y="1919607"/>
            <a:ext cx="23604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3" name="Google Shape;2743;p3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3200" dirty="0" smtClean="0">
                <a:solidFill>
                  <a:schemeClr val="accent2"/>
                </a:solidFill>
              </a:rPr>
              <a:t>SADRŽAJ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2744" name="Google Shape;2744;p35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Uvod</a:t>
            </a:r>
            <a:endParaRPr dirty="0"/>
          </a:p>
        </p:txBody>
      </p:sp>
      <p:sp>
        <p:nvSpPr>
          <p:cNvPr id="2745" name="Google Shape;2745;p35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Cilj maturskog rada</a:t>
            </a:r>
            <a:endParaRPr dirty="0"/>
          </a:p>
        </p:txBody>
      </p:sp>
      <p:sp>
        <p:nvSpPr>
          <p:cNvPr id="2746" name="Google Shape;2746;p35"/>
          <p:cNvSpPr txBox="1">
            <a:spLocks noGrp="1"/>
          </p:cNvSpPr>
          <p:nvPr>
            <p:ph type="title" idx="3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47" name="Google Shape;2747;p35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C# </a:t>
            </a:r>
            <a:endParaRPr dirty="0"/>
          </a:p>
        </p:txBody>
      </p:sp>
      <p:sp>
        <p:nvSpPr>
          <p:cNvPr id="2748" name="Google Shape;2748;p35"/>
          <p:cNvSpPr txBox="1">
            <a:spLocks noGrp="1"/>
          </p:cNvSpPr>
          <p:nvPr>
            <p:ph type="subTitle" idx="5"/>
          </p:nvPr>
        </p:nvSpPr>
        <p:spPr>
          <a:xfrm>
            <a:off x="3162870" y="2406290"/>
            <a:ext cx="2834159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Korišteni alat koji omogućuje kreiranje Windows desktop aplikacije</a:t>
            </a:r>
            <a:endParaRPr dirty="0"/>
          </a:p>
        </p:txBody>
      </p:sp>
      <p:sp>
        <p:nvSpPr>
          <p:cNvPr id="2749" name="Google Shape;2749;p35"/>
          <p:cNvSpPr txBox="1">
            <a:spLocks noGrp="1"/>
          </p:cNvSpPr>
          <p:nvPr>
            <p:ph type="title" idx="6"/>
          </p:nvPr>
        </p:nvSpPr>
        <p:spPr>
          <a:xfrm>
            <a:off x="3479100" y="1345256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750" name="Google Shape;2750;p35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Visual Studio </a:t>
            </a:r>
            <a:endParaRPr dirty="0"/>
          </a:p>
        </p:txBody>
      </p:sp>
      <p:sp>
        <p:nvSpPr>
          <p:cNvPr id="2751" name="Google Shape;2751;p35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Integrisano razvojno okruženje</a:t>
            </a:r>
            <a:endParaRPr dirty="0"/>
          </a:p>
        </p:txBody>
      </p:sp>
      <p:sp>
        <p:nvSpPr>
          <p:cNvPr id="2752" name="Google Shape;2752;p35"/>
          <p:cNvSpPr txBox="1">
            <a:spLocks noGrp="1"/>
          </p:cNvSpPr>
          <p:nvPr>
            <p:ph type="title" idx="9"/>
          </p:nvPr>
        </p:nvSpPr>
        <p:spPr>
          <a:xfrm>
            <a:off x="6149850" y="1352013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753" name="Google Shape;2753;p35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SQL </a:t>
            </a:r>
            <a:endParaRPr dirty="0"/>
          </a:p>
        </p:txBody>
      </p:sp>
      <p:sp>
        <p:nvSpPr>
          <p:cNvPr id="2754" name="Google Shape;2754;p35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674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bs-Latn-BA" dirty="0"/>
              <a:t>K</a:t>
            </a:r>
            <a:r>
              <a:rPr lang="bs-Latn-BA" dirty="0" smtClean="0"/>
              <a:t>onfigurisanje</a:t>
            </a:r>
            <a:r>
              <a:rPr lang="bs-Latn-BA" dirty="0"/>
              <a:t>, upravljanje i administriranje svih komponenti </a:t>
            </a:r>
            <a:endParaRPr dirty="0"/>
          </a:p>
        </p:txBody>
      </p:sp>
      <p:sp>
        <p:nvSpPr>
          <p:cNvPr id="2755" name="Google Shape;2755;p35"/>
          <p:cNvSpPr txBox="1">
            <a:spLocks noGrp="1"/>
          </p:cNvSpPr>
          <p:nvPr>
            <p:ph type="title" idx="15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756" name="Google Shape;2756;p35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ER dijagram</a:t>
            </a:r>
            <a:endParaRPr dirty="0"/>
          </a:p>
        </p:txBody>
      </p:sp>
      <p:sp>
        <p:nvSpPr>
          <p:cNvPr id="2757" name="Google Shape;2757;p35"/>
          <p:cNvSpPr txBox="1">
            <a:spLocks noGrp="1"/>
          </p:cNvSpPr>
          <p:nvPr>
            <p:ph type="subTitle" idx="17"/>
          </p:nvPr>
        </p:nvSpPr>
        <p:spPr>
          <a:xfrm>
            <a:off x="3471150" y="4121285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Prikazan detaljan logički prikaz podataka preko entiteta</a:t>
            </a:r>
            <a:endParaRPr dirty="0"/>
          </a:p>
        </p:txBody>
      </p:sp>
      <p:sp>
        <p:nvSpPr>
          <p:cNvPr id="2758" name="Google Shape;2758;p35"/>
          <p:cNvSpPr txBox="1">
            <a:spLocks noGrp="1"/>
          </p:cNvSpPr>
          <p:nvPr>
            <p:ph type="title" idx="18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759" name="Google Shape;2759;p35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DEMO</a:t>
            </a:r>
            <a:endParaRPr dirty="0"/>
          </a:p>
        </p:txBody>
      </p:sp>
      <p:sp>
        <p:nvSpPr>
          <p:cNvPr id="2760" name="Google Shape;2760;p35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Demonstracija aplikacije</a:t>
            </a:r>
            <a:endParaRPr dirty="0"/>
          </a:p>
        </p:txBody>
      </p:sp>
      <p:sp>
        <p:nvSpPr>
          <p:cNvPr id="2761" name="Google Shape;2761;p35"/>
          <p:cNvSpPr txBox="1">
            <a:spLocks noGrp="1"/>
          </p:cNvSpPr>
          <p:nvPr>
            <p:ph type="title" idx="2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2762" name="Google Shape;2762;p35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63" name="Google Shape;2763;p3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38"/>
          <p:cNvSpPr/>
          <p:nvPr/>
        </p:nvSpPr>
        <p:spPr>
          <a:xfrm>
            <a:off x="1453350" y="3393677"/>
            <a:ext cx="6237300" cy="43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3" name="Google Shape;2883;p38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>
                <a:solidFill>
                  <a:schemeClr val="bg1"/>
                </a:solidFill>
              </a:rPr>
              <a:t>UVOD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884" name="Google Shape;2884;p38"/>
          <p:cNvSpPr txBox="1">
            <a:spLocks noGrp="1"/>
          </p:cNvSpPr>
          <p:nvPr>
            <p:ph type="subTitle" idx="1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Cilj maturskog rada</a:t>
            </a:r>
            <a:endParaRPr dirty="0"/>
          </a:p>
        </p:txBody>
      </p:sp>
      <p:sp>
        <p:nvSpPr>
          <p:cNvPr id="2885" name="Google Shape;2885;p38"/>
          <p:cNvSpPr txBox="1">
            <a:spLocks noGrp="1"/>
          </p:cNvSpPr>
          <p:nvPr>
            <p:ph type="title" idx="2"/>
          </p:nvPr>
        </p:nvSpPr>
        <p:spPr>
          <a:xfrm>
            <a:off x="3132450" y="1484973"/>
            <a:ext cx="28791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/>
          <p:cNvGrpSpPr/>
          <p:nvPr/>
        </p:nvGrpSpPr>
        <p:grpSpPr>
          <a:xfrm rot="5400000">
            <a:off x="1639375" y="1028400"/>
            <a:ext cx="98902" cy="553090"/>
            <a:chOff x="4898850" y="4820550"/>
            <a:chExt cx="98902" cy="553090"/>
          </a:xfrm>
        </p:grpSpPr>
        <p:sp>
          <p:nvSpPr>
            <p:cNvPr id="2894" name="Google Shape;2894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/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7" name="Google Shape;2937;p38"/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938" name="Google Shape;2938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3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2800" dirty="0" smtClean="0"/>
              <a:t> UVOD</a:t>
            </a:r>
            <a:endParaRPr sz="2800" dirty="0">
              <a:solidFill>
                <a:schemeClr val="accent2"/>
              </a:solidFill>
            </a:endParaRPr>
          </a:p>
        </p:txBody>
      </p:sp>
      <p:sp>
        <p:nvSpPr>
          <p:cNvPr id="2725" name="Google Shape;2725;p3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90500" algn="l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200"/>
              <a:buAutoNum type="arabicPeriod"/>
            </a:pPr>
            <a:r>
              <a:rPr lang="bs-Latn-BA" b="1" dirty="0" smtClean="0">
                <a:solidFill>
                  <a:schemeClr val="accent2"/>
                </a:solidFill>
              </a:rPr>
              <a:t>Svrha </a:t>
            </a:r>
            <a:r>
              <a:rPr lang="bs-Latn-BA" b="1" dirty="0" smtClean="0">
                <a:solidFill>
                  <a:schemeClr val="accent2"/>
                </a:solidFill>
              </a:rPr>
              <a:t>aplikacije </a:t>
            </a:r>
            <a:r>
              <a:rPr lang="bs-Latn-BA" dirty="0" smtClean="0"/>
              <a:t>je da kupcima omogući jednostavnu </a:t>
            </a:r>
            <a:r>
              <a:rPr lang="bs-Latn-BA" dirty="0" smtClean="0"/>
              <a:t>kupovinu proizvoda</a:t>
            </a:r>
            <a:endParaRPr lang="bs-Latn-BA" dirty="0" smtClean="0"/>
          </a:p>
          <a:p>
            <a:pPr marL="342900" indent="-190500">
              <a:spcBef>
                <a:spcPts val="1000"/>
              </a:spcBef>
              <a:buClr>
                <a:schemeClr val="accent2"/>
              </a:buClr>
            </a:pPr>
            <a:r>
              <a:rPr lang="bs-Latn-BA" dirty="0"/>
              <a:t>Aplikacija koja je izrađena se sastoji od </a:t>
            </a:r>
            <a:r>
              <a:rPr lang="bs-Latn-BA" b="1" dirty="0">
                <a:solidFill>
                  <a:schemeClr val="accent2"/>
                </a:solidFill>
              </a:rPr>
              <a:t>dva projekta</a:t>
            </a:r>
            <a:r>
              <a:rPr lang="bs-Latn-BA" dirty="0"/>
              <a:t>. </a:t>
            </a:r>
            <a:endParaRPr lang="bs-Latn-BA" dirty="0" smtClean="0"/>
          </a:p>
          <a:p>
            <a:pPr marL="342900" indent="-190500">
              <a:spcBef>
                <a:spcPts val="1000"/>
              </a:spcBef>
              <a:buClr>
                <a:schemeClr val="accent2"/>
              </a:buClr>
            </a:pPr>
            <a:r>
              <a:rPr lang="bs-Latn-BA" dirty="0" smtClean="0"/>
              <a:t>Prvi </a:t>
            </a:r>
            <a:r>
              <a:rPr lang="bs-Latn-BA" dirty="0"/>
              <a:t>projekat se naziva </a:t>
            </a:r>
            <a:r>
              <a:rPr lang="bs-Latn-BA" b="1" dirty="0">
                <a:solidFill>
                  <a:schemeClr val="accent2"/>
                </a:solidFill>
              </a:rPr>
              <a:t>„servis_project“ </a:t>
            </a:r>
            <a:r>
              <a:rPr lang="bs-Latn-BA" dirty="0"/>
              <a:t>i u njemu se nalazi  </a:t>
            </a:r>
            <a:r>
              <a:rPr lang="bs-Latn-BA" b="1" dirty="0">
                <a:solidFill>
                  <a:schemeClr val="accent2"/>
                </a:solidFill>
              </a:rPr>
              <a:t>„Data“ </a:t>
            </a:r>
            <a:r>
              <a:rPr lang="bs-Latn-BA" dirty="0"/>
              <a:t>folder  u kome se nalaze klase sa funkcijama za pristup procedurama u SQLu </a:t>
            </a:r>
            <a:r>
              <a:rPr lang="bs-Latn-BA" dirty="0" smtClean="0"/>
              <a:t>.</a:t>
            </a:r>
          </a:p>
          <a:p>
            <a:pPr marL="342900" indent="-190500">
              <a:spcBef>
                <a:spcPts val="1000"/>
              </a:spcBef>
              <a:buClr>
                <a:schemeClr val="accent2"/>
              </a:buClr>
            </a:pPr>
            <a:r>
              <a:rPr lang="bs-Latn-BA" dirty="0" smtClean="0"/>
              <a:t> </a:t>
            </a:r>
            <a:r>
              <a:rPr lang="bs-Latn-BA" dirty="0"/>
              <a:t>Dakle, prethodno se napravila baza podataka koja se sastoji od tabela, koja je spojena sa aplikacijom. </a:t>
            </a:r>
            <a:endParaRPr lang="bs-Latn-BA" dirty="0" smtClean="0"/>
          </a:p>
          <a:p>
            <a:pPr marL="342900" indent="-190500">
              <a:spcBef>
                <a:spcPts val="1000"/>
              </a:spcBef>
              <a:buClr>
                <a:schemeClr val="accent2"/>
              </a:buClr>
            </a:pPr>
            <a:r>
              <a:rPr lang="bs-Latn-BA" dirty="0" smtClean="0"/>
              <a:t>U </a:t>
            </a:r>
            <a:r>
              <a:rPr lang="bs-Latn-BA" dirty="0"/>
              <a:t>drugom projektu se nalazi </a:t>
            </a:r>
            <a:r>
              <a:rPr lang="bs-Latn-BA" dirty="0" smtClean="0"/>
              <a:t>pet </a:t>
            </a:r>
            <a:r>
              <a:rPr lang="bs-Latn-BA" dirty="0"/>
              <a:t>foldera u kojima se nalaze forme radi preglednosti.</a:t>
            </a:r>
            <a:endParaRPr lang="en-GB" dirty="0"/>
          </a:p>
          <a:p>
            <a:pPr marL="342900" lvl="0" indent="-190500" algn="l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200"/>
              <a:buAutoNum type="arabicPeriod"/>
            </a:pPr>
            <a:endParaRPr lang="bs-Latn-BA" dirty="0" smtClean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726" name="Google Shape;2726;p34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p44"/>
          <p:cNvSpPr/>
          <p:nvPr/>
        </p:nvSpPr>
        <p:spPr>
          <a:xfrm>
            <a:off x="713099" y="3393675"/>
            <a:ext cx="6811693" cy="43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9" name="Google Shape;3159;p44"/>
          <p:cNvSpPr txBox="1">
            <a:spLocks noGrp="1"/>
          </p:cNvSpPr>
          <p:nvPr>
            <p:ph type="title"/>
          </p:nvPr>
        </p:nvSpPr>
        <p:spPr>
          <a:xfrm>
            <a:off x="1169325" y="2400623"/>
            <a:ext cx="756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                 C#</a:t>
            </a:r>
            <a:r>
              <a:rPr lang="en" dirty="0" smtClean="0"/>
              <a:t>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160" name="Google Shape;3160;p44"/>
          <p:cNvSpPr txBox="1">
            <a:spLocks noGrp="1"/>
          </p:cNvSpPr>
          <p:nvPr>
            <p:ph type="subTitle" idx="1"/>
          </p:nvPr>
        </p:nvSpPr>
        <p:spPr>
          <a:xfrm>
            <a:off x="864525" y="3557818"/>
            <a:ext cx="8772939" cy="3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bs-Latn-BA" dirty="0"/>
              <a:t>Korišteni alat koji omogućuje kreiranje Windows desktop aplikacije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61" name="Google Shape;3161;p44"/>
          <p:cNvSpPr txBox="1">
            <a:spLocks noGrp="1"/>
          </p:cNvSpPr>
          <p:nvPr>
            <p:ph type="title" idx="2"/>
          </p:nvPr>
        </p:nvSpPr>
        <p:spPr>
          <a:xfrm>
            <a:off x="3625770" y="1436993"/>
            <a:ext cx="21303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3162" name="Google Shape;3162;p44"/>
          <p:cNvGrpSpPr/>
          <p:nvPr/>
        </p:nvGrpSpPr>
        <p:grpSpPr>
          <a:xfrm flipH="1">
            <a:off x="7672202" y="3605178"/>
            <a:ext cx="883262" cy="242091"/>
            <a:chOff x="2300350" y="2601250"/>
            <a:chExt cx="2275275" cy="623625"/>
          </a:xfrm>
        </p:grpSpPr>
        <p:sp>
          <p:nvSpPr>
            <p:cNvPr id="3163" name="Google Shape;3163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9" name="Google Shape;3169;p44"/>
          <p:cNvGrpSpPr/>
          <p:nvPr/>
        </p:nvGrpSpPr>
        <p:grpSpPr>
          <a:xfrm rot="5400000">
            <a:off x="2935200" y="4005125"/>
            <a:ext cx="98902" cy="553090"/>
            <a:chOff x="4898850" y="4820550"/>
            <a:chExt cx="98902" cy="553090"/>
          </a:xfrm>
        </p:grpSpPr>
        <p:sp>
          <p:nvSpPr>
            <p:cNvPr id="3170" name="Google Shape;3170;p4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4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4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4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4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5" name="Google Shape;3175;p44"/>
          <p:cNvGrpSpPr/>
          <p:nvPr/>
        </p:nvGrpSpPr>
        <p:grpSpPr>
          <a:xfrm>
            <a:off x="5776817" y="1332566"/>
            <a:ext cx="1105976" cy="133969"/>
            <a:chOff x="8183182" y="663852"/>
            <a:chExt cx="1475028" cy="178673"/>
          </a:xfrm>
        </p:grpSpPr>
        <p:grpSp>
          <p:nvGrpSpPr>
            <p:cNvPr id="3176" name="Google Shape;3176;p4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177" name="Google Shape;3177;p4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4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4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4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4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4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4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4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4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4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87" name="Google Shape;3187;p4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188" name="Google Shape;3188;p4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4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4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4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4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4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4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4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4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4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98" name="Google Shape;3198;p44"/>
          <p:cNvGrpSpPr/>
          <p:nvPr/>
        </p:nvGrpSpPr>
        <p:grpSpPr>
          <a:xfrm>
            <a:off x="5294901" y="4383719"/>
            <a:ext cx="1252897" cy="51000"/>
            <a:chOff x="2915381" y="4104819"/>
            <a:chExt cx="1252897" cy="51000"/>
          </a:xfrm>
        </p:grpSpPr>
        <p:sp>
          <p:nvSpPr>
            <p:cNvPr id="3199" name="Google Shape;3199;p4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4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4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4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4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4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4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4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4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4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4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4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4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4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3" name="Google Shape;3213;p44"/>
          <p:cNvGrpSpPr/>
          <p:nvPr/>
        </p:nvGrpSpPr>
        <p:grpSpPr>
          <a:xfrm>
            <a:off x="2621939" y="674428"/>
            <a:ext cx="883262" cy="242091"/>
            <a:chOff x="2300350" y="2601250"/>
            <a:chExt cx="2275275" cy="623625"/>
          </a:xfrm>
        </p:grpSpPr>
        <p:sp>
          <p:nvSpPr>
            <p:cNvPr id="3214" name="Google Shape;3214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0" name="Google Shape;3220;p44"/>
          <p:cNvGrpSpPr/>
          <p:nvPr/>
        </p:nvGrpSpPr>
        <p:grpSpPr>
          <a:xfrm>
            <a:off x="7672192" y="1903729"/>
            <a:ext cx="1823016" cy="296643"/>
            <a:chOff x="7857346" y="3902355"/>
            <a:chExt cx="1823016" cy="296643"/>
          </a:xfrm>
        </p:grpSpPr>
        <p:sp>
          <p:nvSpPr>
            <p:cNvPr id="3221" name="Google Shape;3221;p4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4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4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4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4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4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3100" y="1461275"/>
            <a:ext cx="3746700" cy="3083632"/>
          </a:xfrm>
        </p:spPr>
        <p:txBody>
          <a:bodyPr/>
          <a:lstStyle/>
          <a:p>
            <a:r>
              <a:rPr lang="bs-Latn-BA" dirty="0"/>
              <a:t>Objektno orijentisani programski jezik </a:t>
            </a:r>
            <a:r>
              <a:rPr lang="bs-Latn-BA" b="1" dirty="0">
                <a:solidFill>
                  <a:schemeClr val="accent2"/>
                </a:solidFill>
              </a:rPr>
              <a:t>C#</a:t>
            </a:r>
            <a:r>
              <a:rPr lang="bs-Latn-BA" dirty="0"/>
              <a:t> (ili C Sharp) </a:t>
            </a:r>
            <a:endParaRPr lang="bs-Latn-BA" dirty="0" smtClean="0"/>
          </a:p>
          <a:p>
            <a:r>
              <a:rPr lang="bs-Latn-BA" dirty="0"/>
              <a:t>R</a:t>
            </a:r>
            <a:r>
              <a:rPr lang="bs-Latn-BA" dirty="0" smtClean="0"/>
              <a:t>azvijen </a:t>
            </a:r>
            <a:r>
              <a:rPr lang="bs-Latn-BA" dirty="0"/>
              <a:t>je u programu 2000. godine u timu kojeg je </a:t>
            </a:r>
            <a:r>
              <a:rPr lang="bs-Latn-BA" dirty="0" smtClean="0"/>
              <a:t>predstavljao nizozemski </a:t>
            </a:r>
            <a:r>
              <a:rPr lang="bs-Latn-BA" dirty="0"/>
              <a:t>programer </a:t>
            </a:r>
            <a:r>
              <a:rPr lang="bs-Latn-BA" b="1" dirty="0">
                <a:solidFill>
                  <a:schemeClr val="accent2"/>
                </a:solidFill>
              </a:rPr>
              <a:t>Anders Hejlsberg. </a:t>
            </a:r>
            <a:endParaRPr lang="bs-Latn-BA" b="1" dirty="0" smtClean="0">
              <a:solidFill>
                <a:schemeClr val="accent2"/>
              </a:solidFill>
            </a:endParaRPr>
          </a:p>
          <a:p>
            <a:r>
              <a:rPr lang="bs-Latn-BA" dirty="0" smtClean="0"/>
              <a:t>C</a:t>
            </a:r>
            <a:r>
              <a:rPr lang="bs-Latn-BA" dirty="0"/>
              <a:t># razvijen je prvenstveno kao Microsoftov odgovor na širenje Jave kao programskog jezika – on služi kao pozadina iza Microsoftovog .NET okvira (engl. </a:t>
            </a:r>
            <a:r>
              <a:rPr lang="bs-Latn-BA" i="1" dirty="0"/>
              <a:t>Framework</a:t>
            </a:r>
            <a:r>
              <a:rPr lang="bs-Latn-BA" dirty="0"/>
              <a:t>) </a:t>
            </a:r>
          </a:p>
          <a:p>
            <a:r>
              <a:rPr lang="bs-Latn-BA" dirty="0" smtClean="0"/>
              <a:t> </a:t>
            </a:r>
            <a:r>
              <a:rPr lang="bs-Latn-BA" dirty="0"/>
              <a:t>Z</a:t>
            </a:r>
            <a:r>
              <a:rPr lang="bs-Latn-BA" dirty="0" smtClean="0"/>
              <a:t>a </a:t>
            </a:r>
            <a:r>
              <a:rPr lang="bs-Latn-BA" dirty="0"/>
              <a:t>razliku od C++ programskog jezika </a:t>
            </a:r>
            <a:r>
              <a:rPr lang="bs-Latn-BA" b="1" dirty="0">
                <a:solidFill>
                  <a:schemeClr val="accent2"/>
                </a:solidFill>
              </a:rPr>
              <a:t>sam brine o upravljanju memorijom </a:t>
            </a:r>
            <a:r>
              <a:rPr lang="bs-Latn-BA" dirty="0"/>
              <a:t>što je velika prednost za programere.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 smtClean="0"/>
              <a:t>C#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321" y="1586830"/>
            <a:ext cx="2752719" cy="256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3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6" name="Google Shape;3516;p50"/>
          <p:cNvSpPr/>
          <p:nvPr/>
        </p:nvSpPr>
        <p:spPr>
          <a:xfrm>
            <a:off x="3701400" y="3393675"/>
            <a:ext cx="4729500" cy="43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7" name="Google Shape;3517;p50"/>
          <p:cNvSpPr txBox="1">
            <a:spLocks noGrp="1"/>
          </p:cNvSpPr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VISUAL</a:t>
            </a:r>
            <a:r>
              <a:rPr lang="en" dirty="0" smtClean="0"/>
              <a:t> </a:t>
            </a:r>
            <a:r>
              <a:rPr lang="bs-Latn-BA" dirty="0" smtClean="0">
                <a:solidFill>
                  <a:schemeClr val="accent2"/>
                </a:solidFill>
              </a:rPr>
              <a:t>STUDIO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518" name="Google Shape;3518;p50"/>
          <p:cNvSpPr txBox="1">
            <a:spLocks noGrp="1"/>
          </p:cNvSpPr>
          <p:nvPr>
            <p:ph type="subTitle" idx="1"/>
          </p:nvPr>
        </p:nvSpPr>
        <p:spPr>
          <a:xfrm>
            <a:off x="3567000" y="3483990"/>
            <a:ext cx="4729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bs-Latn-BA" dirty="0"/>
              <a:t>Integrisano razvojno okruženje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19" name="Google Shape;3519;p50"/>
          <p:cNvSpPr txBox="1">
            <a:spLocks noGrp="1"/>
          </p:cNvSpPr>
          <p:nvPr>
            <p:ph type="title" idx="2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520" name="Google Shape;3520;p50"/>
          <p:cNvGrpSpPr/>
          <p:nvPr/>
        </p:nvGrpSpPr>
        <p:grpSpPr>
          <a:xfrm flipH="1">
            <a:off x="1974727" y="3700403"/>
            <a:ext cx="883262" cy="242091"/>
            <a:chOff x="2300350" y="2601250"/>
            <a:chExt cx="2275275" cy="623625"/>
          </a:xfrm>
        </p:grpSpPr>
        <p:sp>
          <p:nvSpPr>
            <p:cNvPr id="3521" name="Google Shape;3521;p5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5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5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5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5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5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7" name="Google Shape;3527;p50"/>
          <p:cNvGrpSpPr/>
          <p:nvPr/>
        </p:nvGrpSpPr>
        <p:grpSpPr>
          <a:xfrm rot="5400000">
            <a:off x="2372875" y="1324825"/>
            <a:ext cx="98902" cy="553090"/>
            <a:chOff x="4898850" y="4820550"/>
            <a:chExt cx="98902" cy="553090"/>
          </a:xfrm>
        </p:grpSpPr>
        <p:sp>
          <p:nvSpPr>
            <p:cNvPr id="3528" name="Google Shape;3528;p5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5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5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5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5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3" name="Google Shape;3533;p50"/>
          <p:cNvGrpSpPr/>
          <p:nvPr/>
        </p:nvGrpSpPr>
        <p:grpSpPr>
          <a:xfrm>
            <a:off x="4886167" y="996591"/>
            <a:ext cx="1105976" cy="133969"/>
            <a:chOff x="8183182" y="663852"/>
            <a:chExt cx="1475028" cy="178673"/>
          </a:xfrm>
        </p:grpSpPr>
        <p:grpSp>
          <p:nvGrpSpPr>
            <p:cNvPr id="3534" name="Google Shape;3534;p50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535" name="Google Shape;3535;p5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5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7" name="Google Shape;3537;p5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8" name="Google Shape;3538;p5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5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5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5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5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5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5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5" name="Google Shape;3545;p50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546" name="Google Shape;3546;p5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5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5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5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5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5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5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5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5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5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56" name="Google Shape;3556;p50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3557" name="Google Shape;3557;p5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5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5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5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5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5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5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5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5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5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5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5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1" name="Google Shape;3571;p50"/>
          <p:cNvGrpSpPr/>
          <p:nvPr/>
        </p:nvGrpSpPr>
        <p:grpSpPr>
          <a:xfrm rot="10800000">
            <a:off x="3913164" y="1623828"/>
            <a:ext cx="883262" cy="242091"/>
            <a:chOff x="2300350" y="2601250"/>
            <a:chExt cx="2275275" cy="623625"/>
          </a:xfrm>
        </p:grpSpPr>
        <p:sp>
          <p:nvSpPr>
            <p:cNvPr id="3572" name="Google Shape;3572;p5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5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5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5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5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5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2"/>
          </p:nvPr>
        </p:nvSpPr>
        <p:spPr>
          <a:xfrm>
            <a:off x="4684200" y="1461274"/>
            <a:ext cx="3746700" cy="2988805"/>
          </a:xfrm>
        </p:spPr>
        <p:txBody>
          <a:bodyPr/>
          <a:lstStyle/>
          <a:p>
            <a:r>
              <a:rPr lang="bs-Latn-BA" b="1" dirty="0">
                <a:solidFill>
                  <a:schemeClr val="accent2"/>
                </a:solidFill>
              </a:rPr>
              <a:t>Visual studio </a:t>
            </a:r>
            <a:r>
              <a:rPr lang="bs-Latn-BA" dirty="0"/>
              <a:t>je integrisan razvojni </a:t>
            </a:r>
            <a:r>
              <a:rPr lang="bs-Latn-BA" i="1" dirty="0"/>
              <a:t>interface</a:t>
            </a:r>
            <a:r>
              <a:rPr lang="bs-Latn-BA" dirty="0"/>
              <a:t> (engl. </a:t>
            </a:r>
            <a:r>
              <a:rPr lang="bs-Latn-BA" i="1" dirty="0"/>
              <a:t>Integrated Development Enviroment</a:t>
            </a:r>
            <a:r>
              <a:rPr lang="bs-Latn-BA" dirty="0"/>
              <a:t>, IDE) kojeg je razvio Microsoft. </a:t>
            </a:r>
            <a:endParaRPr lang="bs-Latn-BA" dirty="0" smtClean="0"/>
          </a:p>
          <a:p>
            <a:r>
              <a:rPr lang="bs-Latn-BA" dirty="0" smtClean="0"/>
              <a:t>To </a:t>
            </a:r>
            <a:r>
              <a:rPr lang="bs-Latn-BA" dirty="0"/>
              <a:t>je program koji omogućuje razvoj web aplikacija, web usluga, mobilnih aplikacija i računarskih </a:t>
            </a:r>
            <a:r>
              <a:rPr lang="bs-Latn-BA" dirty="0" smtClean="0"/>
              <a:t>programa i desktop aplikacija. </a:t>
            </a:r>
            <a:endParaRPr lang="bs-Latn-BA" dirty="0" smtClean="0"/>
          </a:p>
          <a:p>
            <a:r>
              <a:rPr lang="bs-Latn-BA" dirty="0" smtClean="0"/>
              <a:t>Od </a:t>
            </a:r>
            <a:r>
              <a:rPr lang="bs-Latn-BA" dirty="0"/>
              <a:t>verzije Visual Studio .NET 2002 pa nadalje moguće je višejezično pisanje programa koji mogu raditi na više operativnih sistema zbog upotrebe moćne .NET arhitekture.“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 smtClean="0"/>
              <a:t>VISUAL </a:t>
            </a:r>
            <a:r>
              <a:rPr lang="bs-Latn-BA" dirty="0" smtClean="0">
                <a:solidFill>
                  <a:schemeClr val="accent2"/>
                </a:solidFill>
              </a:rPr>
              <a:t>STUDIO </a:t>
            </a:r>
            <a:endParaRPr lang="en-GB" dirty="0">
              <a:solidFill>
                <a:schemeClr val="accent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" y="1835574"/>
            <a:ext cx="4335373" cy="205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9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" name="Google Shape;3922;p57"/>
          <p:cNvSpPr/>
          <p:nvPr/>
        </p:nvSpPr>
        <p:spPr>
          <a:xfrm>
            <a:off x="1451421" y="3766504"/>
            <a:ext cx="6241157" cy="43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3" name="Google Shape;3923;p57"/>
          <p:cNvSpPr txBox="1">
            <a:spLocks noGrp="1"/>
          </p:cNvSpPr>
          <p:nvPr>
            <p:ph type="title"/>
          </p:nvPr>
        </p:nvSpPr>
        <p:spPr>
          <a:xfrm>
            <a:off x="726646" y="2640472"/>
            <a:ext cx="8159967" cy="7873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4800" dirty="0" smtClean="0"/>
              <a:t>SQL SEVER MANAGMENT STUDIO</a:t>
            </a:r>
            <a:r>
              <a:rPr lang="en" sz="4800" dirty="0" smtClean="0"/>
              <a:t> </a:t>
            </a:r>
            <a:endParaRPr sz="4800" dirty="0"/>
          </a:p>
        </p:txBody>
      </p:sp>
      <p:sp>
        <p:nvSpPr>
          <p:cNvPr id="3924" name="Google Shape;3924;p57"/>
          <p:cNvSpPr txBox="1">
            <a:spLocks noGrp="1"/>
          </p:cNvSpPr>
          <p:nvPr>
            <p:ph type="subTitle" idx="1"/>
          </p:nvPr>
        </p:nvSpPr>
        <p:spPr>
          <a:xfrm>
            <a:off x="1288139" y="3912603"/>
            <a:ext cx="6567719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bs-Latn-BA" dirty="0"/>
              <a:t>Konfigurisanje, upravljanje i administriranje svih komponenti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25" name="Google Shape;3925;p57"/>
          <p:cNvSpPr txBox="1">
            <a:spLocks noGrp="1"/>
          </p:cNvSpPr>
          <p:nvPr>
            <p:ph type="title" idx="2"/>
          </p:nvPr>
        </p:nvSpPr>
        <p:spPr>
          <a:xfrm>
            <a:off x="3132448" y="1326264"/>
            <a:ext cx="28791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3926" name="Google Shape;3926;p57"/>
          <p:cNvGrpSpPr/>
          <p:nvPr/>
        </p:nvGrpSpPr>
        <p:grpSpPr>
          <a:xfrm rot="5400000" flipH="1">
            <a:off x="5489296" y="55862"/>
            <a:ext cx="1823016" cy="296643"/>
            <a:chOff x="7857346" y="3902355"/>
            <a:chExt cx="1823016" cy="296643"/>
          </a:xfrm>
        </p:grpSpPr>
        <p:sp>
          <p:nvSpPr>
            <p:cNvPr id="3927" name="Google Shape;3927;p5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5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5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5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5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5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3" name="Google Shape;3933;p57"/>
          <p:cNvGrpSpPr/>
          <p:nvPr/>
        </p:nvGrpSpPr>
        <p:grpSpPr>
          <a:xfrm>
            <a:off x="1827567" y="1274816"/>
            <a:ext cx="1105976" cy="133969"/>
            <a:chOff x="8183182" y="663852"/>
            <a:chExt cx="1475028" cy="178673"/>
          </a:xfrm>
        </p:grpSpPr>
        <p:grpSp>
          <p:nvGrpSpPr>
            <p:cNvPr id="3934" name="Google Shape;3934;p5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935" name="Google Shape;3935;p5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5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5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5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5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5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5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5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5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5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45" name="Google Shape;3945;p5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946" name="Google Shape;3946;p5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5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5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5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5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5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5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5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5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5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56" name="Google Shape;3956;p57"/>
          <p:cNvGrpSpPr/>
          <p:nvPr/>
        </p:nvGrpSpPr>
        <p:grpSpPr>
          <a:xfrm rot="5400000">
            <a:off x="2554975" y="4127250"/>
            <a:ext cx="98902" cy="553090"/>
            <a:chOff x="4898850" y="4820550"/>
            <a:chExt cx="98902" cy="553090"/>
          </a:xfrm>
        </p:grpSpPr>
        <p:sp>
          <p:nvSpPr>
            <p:cNvPr id="3957" name="Google Shape;3957;p5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5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5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5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5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2" name="Google Shape;3962;p57"/>
          <p:cNvGrpSpPr/>
          <p:nvPr/>
        </p:nvGrpSpPr>
        <p:grpSpPr>
          <a:xfrm rot="5400000">
            <a:off x="4027600" y="367000"/>
            <a:ext cx="98902" cy="553090"/>
            <a:chOff x="4898850" y="4820550"/>
            <a:chExt cx="98902" cy="553090"/>
          </a:xfrm>
        </p:grpSpPr>
        <p:sp>
          <p:nvSpPr>
            <p:cNvPr id="3963" name="Google Shape;3963;p5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5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5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5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5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65500" y="1093305"/>
            <a:ext cx="5058222" cy="677177"/>
          </a:xfrm>
        </p:spPr>
        <p:txBody>
          <a:bodyPr/>
          <a:lstStyle/>
          <a:p>
            <a:r>
              <a:rPr lang="bs-Latn-BA" dirty="0" smtClean="0"/>
              <a:t>SQL SERVER MANAGMENT STUDIO</a:t>
            </a:r>
            <a:endParaRPr lang="en-GB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72734" y="2151781"/>
            <a:ext cx="4166100" cy="2400339"/>
          </a:xfrm>
        </p:spPr>
        <p:txBody>
          <a:bodyPr/>
          <a:lstStyle/>
          <a:p>
            <a:r>
              <a:rPr lang="bs-Latn-BA" b="1" dirty="0">
                <a:solidFill>
                  <a:schemeClr val="accent2"/>
                </a:solidFill>
              </a:rPr>
              <a:t>Baza podataka</a:t>
            </a:r>
            <a:r>
              <a:rPr lang="bs-Latn-BA" dirty="0"/>
              <a:t> je skup međusobno povezanih podataka, pohranjenih u vanjskoj memoriji računara koji su istovremeno dostupni raznim korisnicima i aplikacionim programima</a:t>
            </a:r>
            <a:r>
              <a:rPr lang="bs-Latn-BA" dirty="0" smtClean="0"/>
              <a:t>.</a:t>
            </a:r>
          </a:p>
          <a:p>
            <a:pPr marL="139700" indent="0">
              <a:buNone/>
            </a:pPr>
            <a:endParaRPr lang="bs-Latn-BA" dirty="0" smtClean="0"/>
          </a:p>
          <a:p>
            <a:r>
              <a:rPr lang="bs-Latn-BA" b="1" i="1" dirty="0">
                <a:solidFill>
                  <a:schemeClr val="accent2"/>
                </a:solidFill>
              </a:rPr>
              <a:t>SQL Server Management Studio</a:t>
            </a:r>
            <a:r>
              <a:rPr lang="bs-Latn-BA" dirty="0"/>
              <a:t> (SSMS) je softverska aplikacija koja je prvi put pokrenuta sa Microsoft SQL Server 2005 koja se koristi za konfigurisanje, upravljanje i administriranje svih komponenti unutar Microsoft SQL Servera . 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003" y="1712659"/>
            <a:ext cx="2617094" cy="283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7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" name="Google Shape;4147;p61"/>
          <p:cNvSpPr/>
          <p:nvPr/>
        </p:nvSpPr>
        <p:spPr>
          <a:xfrm>
            <a:off x="2752768" y="3391800"/>
            <a:ext cx="6060233" cy="43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8" name="Google Shape;4148;p61"/>
          <p:cNvSpPr txBox="1">
            <a:spLocks noGrp="1"/>
          </p:cNvSpPr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2"/>
                </a:solidFill>
              </a:rPr>
              <a:t>ER</a:t>
            </a:r>
            <a:r>
              <a:rPr lang="en" dirty="0" smtClean="0"/>
              <a:t> </a:t>
            </a:r>
            <a:r>
              <a:rPr lang="bs-Latn-BA" dirty="0" smtClean="0"/>
              <a:t>DIJAGRAM</a:t>
            </a:r>
            <a:endParaRPr dirty="0"/>
          </a:p>
        </p:txBody>
      </p:sp>
      <p:sp>
        <p:nvSpPr>
          <p:cNvPr id="4149" name="Google Shape;4149;p61"/>
          <p:cNvSpPr txBox="1">
            <a:spLocks noGrp="1"/>
          </p:cNvSpPr>
          <p:nvPr>
            <p:ph type="title" idx="2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150" name="Google Shape;4150;p61"/>
          <p:cNvSpPr txBox="1">
            <a:spLocks noGrp="1"/>
          </p:cNvSpPr>
          <p:nvPr>
            <p:ph type="subTitle" idx="1"/>
          </p:nvPr>
        </p:nvSpPr>
        <p:spPr>
          <a:xfrm>
            <a:off x="2974880" y="3545691"/>
            <a:ext cx="570314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bs-Latn-BA" dirty="0"/>
              <a:t>Prikazan detaljan logički prikaz podataka preko entiteta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151" name="Google Shape;4151;p61"/>
          <p:cNvGrpSpPr/>
          <p:nvPr/>
        </p:nvGrpSpPr>
        <p:grpSpPr>
          <a:xfrm flipH="1">
            <a:off x="5624514" y="4219003"/>
            <a:ext cx="883262" cy="242091"/>
            <a:chOff x="2300350" y="2601250"/>
            <a:chExt cx="2275275" cy="623625"/>
          </a:xfrm>
        </p:grpSpPr>
        <p:sp>
          <p:nvSpPr>
            <p:cNvPr id="4152" name="Google Shape;4152;p6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6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6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6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6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6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8" name="Google Shape;4158;p61"/>
          <p:cNvGrpSpPr/>
          <p:nvPr/>
        </p:nvGrpSpPr>
        <p:grpSpPr>
          <a:xfrm rot="5400000">
            <a:off x="2406975" y="1552975"/>
            <a:ext cx="98902" cy="553090"/>
            <a:chOff x="4898850" y="4820550"/>
            <a:chExt cx="98902" cy="553090"/>
          </a:xfrm>
        </p:grpSpPr>
        <p:sp>
          <p:nvSpPr>
            <p:cNvPr id="4159" name="Google Shape;4159;p6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6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6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6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6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64" name="Google Shape;4164;p61"/>
          <p:cNvGrpSpPr/>
          <p:nvPr/>
        </p:nvGrpSpPr>
        <p:grpSpPr>
          <a:xfrm>
            <a:off x="1439672" y="3543815"/>
            <a:ext cx="1105976" cy="133969"/>
            <a:chOff x="8183182" y="663852"/>
            <a:chExt cx="1475028" cy="178673"/>
          </a:xfrm>
        </p:grpSpPr>
        <p:grpSp>
          <p:nvGrpSpPr>
            <p:cNvPr id="4165" name="Google Shape;4165;p6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4166" name="Google Shape;4166;p6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6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6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6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6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6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6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6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6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6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76" name="Google Shape;4176;p6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4177" name="Google Shape;4177;p6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6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6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6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6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6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6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6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6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6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87" name="Google Shape;4187;p61"/>
          <p:cNvGrpSpPr/>
          <p:nvPr/>
        </p:nvGrpSpPr>
        <p:grpSpPr>
          <a:xfrm rot="10800000">
            <a:off x="3861214" y="1283578"/>
            <a:ext cx="883262" cy="242091"/>
            <a:chOff x="2300350" y="2601250"/>
            <a:chExt cx="2275275" cy="623625"/>
          </a:xfrm>
        </p:grpSpPr>
        <p:sp>
          <p:nvSpPr>
            <p:cNvPr id="4188" name="Google Shape;4188;p6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6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6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6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6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6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4" name="Google Shape;4194;p61"/>
          <p:cNvGrpSpPr/>
          <p:nvPr/>
        </p:nvGrpSpPr>
        <p:grpSpPr>
          <a:xfrm rot="5400000">
            <a:off x="5527875" y="467850"/>
            <a:ext cx="98902" cy="553090"/>
            <a:chOff x="4898850" y="4820550"/>
            <a:chExt cx="98902" cy="553090"/>
          </a:xfrm>
        </p:grpSpPr>
        <p:sp>
          <p:nvSpPr>
            <p:cNvPr id="4195" name="Google Shape;4195;p6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6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6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6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6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25300" y="539400"/>
            <a:ext cx="3746700" cy="2702700"/>
          </a:xfrm>
        </p:spPr>
        <p:txBody>
          <a:bodyPr/>
          <a:lstStyle/>
          <a:p>
            <a:r>
              <a:rPr lang="bs-Latn-BA" sz="1100" dirty="0"/>
              <a:t>ER (engl. </a:t>
            </a:r>
            <a:r>
              <a:rPr lang="bs-Latn-BA" sz="1100" i="1" dirty="0"/>
              <a:t>Entitiy-Relationship</a:t>
            </a:r>
            <a:r>
              <a:rPr lang="bs-Latn-BA" sz="1100" dirty="0"/>
              <a:t>) dijagram predstavlja detaljan logički prikaz podataka preko entiteta, njihovih atributa i međusobnih veza. Isti olakšava korake pisanja programskog koda te daje uvid u pojedine tabele, njima pripadajuće kolone, primarne i vanjske ključeve te veze među njima.</a:t>
            </a:r>
            <a:endParaRPr lang="en-GB" sz="1100" dirty="0"/>
          </a:p>
          <a:p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13100" y="539399"/>
            <a:ext cx="7717800" cy="652707"/>
          </a:xfrm>
        </p:spPr>
        <p:txBody>
          <a:bodyPr/>
          <a:lstStyle/>
          <a:p>
            <a:r>
              <a:rPr lang="bs-Latn-BA" dirty="0" smtClean="0">
                <a:solidFill>
                  <a:schemeClr val="accent2"/>
                </a:solidFill>
              </a:rPr>
              <a:t>                                             ER </a:t>
            </a:r>
            <a:r>
              <a:rPr lang="bs-Latn-BA" dirty="0" smtClean="0"/>
              <a:t>DIJAGRAM</a:t>
            </a:r>
            <a:endParaRPr lang="en-GB" dirty="0"/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571413" y="1808480"/>
            <a:ext cx="6425995" cy="307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4" name="Google Shape;4294;p63"/>
          <p:cNvSpPr/>
          <p:nvPr/>
        </p:nvSpPr>
        <p:spPr>
          <a:xfrm>
            <a:off x="713100" y="3393675"/>
            <a:ext cx="4729500" cy="43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5" name="Google Shape;4295;p63"/>
          <p:cNvSpPr txBox="1">
            <a:spLocks noGrp="1"/>
          </p:cNvSpPr>
          <p:nvPr>
            <p:ph type="title"/>
          </p:nvPr>
        </p:nvSpPr>
        <p:spPr>
          <a:xfrm>
            <a:off x="864525" y="2405675"/>
            <a:ext cx="756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DEMO</a:t>
            </a:r>
            <a:endParaRPr dirty="0"/>
          </a:p>
        </p:txBody>
      </p:sp>
      <p:sp>
        <p:nvSpPr>
          <p:cNvPr id="4296" name="Google Shape;4296;p63"/>
          <p:cNvSpPr txBox="1">
            <a:spLocks noGrp="1"/>
          </p:cNvSpPr>
          <p:nvPr>
            <p:ph type="subTitle" idx="1"/>
          </p:nvPr>
        </p:nvSpPr>
        <p:spPr>
          <a:xfrm>
            <a:off x="864525" y="3440475"/>
            <a:ext cx="4644000" cy="3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Demonstracija aplikacije</a:t>
            </a:r>
            <a:endParaRPr dirty="0"/>
          </a:p>
        </p:txBody>
      </p:sp>
      <p:sp>
        <p:nvSpPr>
          <p:cNvPr id="4297" name="Google Shape;4297;p63"/>
          <p:cNvSpPr txBox="1">
            <a:spLocks noGrp="1"/>
          </p:cNvSpPr>
          <p:nvPr>
            <p:ph type="title" idx="2"/>
          </p:nvPr>
        </p:nvSpPr>
        <p:spPr>
          <a:xfrm>
            <a:off x="864525" y="1484975"/>
            <a:ext cx="2130300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4298" name="Google Shape;4298;p63"/>
          <p:cNvGrpSpPr/>
          <p:nvPr/>
        </p:nvGrpSpPr>
        <p:grpSpPr>
          <a:xfrm rot="-5400000" flipH="1">
            <a:off x="7383127" y="3012828"/>
            <a:ext cx="883262" cy="242091"/>
            <a:chOff x="2300350" y="2601250"/>
            <a:chExt cx="2275275" cy="623625"/>
          </a:xfrm>
        </p:grpSpPr>
        <p:sp>
          <p:nvSpPr>
            <p:cNvPr id="4299" name="Google Shape;4299;p6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6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6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6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6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6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5" name="Google Shape;4305;p63"/>
          <p:cNvGrpSpPr/>
          <p:nvPr/>
        </p:nvGrpSpPr>
        <p:grpSpPr>
          <a:xfrm rot="5400000">
            <a:off x="2935200" y="4005125"/>
            <a:ext cx="98902" cy="553090"/>
            <a:chOff x="4898850" y="4820550"/>
            <a:chExt cx="98902" cy="553090"/>
          </a:xfrm>
        </p:grpSpPr>
        <p:sp>
          <p:nvSpPr>
            <p:cNvPr id="4306" name="Google Shape;4306;p6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6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6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6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6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1" name="Google Shape;4311;p63"/>
          <p:cNvGrpSpPr/>
          <p:nvPr/>
        </p:nvGrpSpPr>
        <p:grpSpPr>
          <a:xfrm>
            <a:off x="2502517" y="715516"/>
            <a:ext cx="1105976" cy="133969"/>
            <a:chOff x="8183182" y="663852"/>
            <a:chExt cx="1475028" cy="178673"/>
          </a:xfrm>
        </p:grpSpPr>
        <p:grpSp>
          <p:nvGrpSpPr>
            <p:cNvPr id="4312" name="Google Shape;4312;p6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4313" name="Google Shape;4313;p6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6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6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6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6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6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6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6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6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6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23" name="Google Shape;4323;p6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4324" name="Google Shape;4324;p6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6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6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6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6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6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6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6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6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6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34" name="Google Shape;4334;p63"/>
          <p:cNvGrpSpPr/>
          <p:nvPr/>
        </p:nvGrpSpPr>
        <p:grpSpPr>
          <a:xfrm>
            <a:off x="5835364" y="1296428"/>
            <a:ext cx="883262" cy="242091"/>
            <a:chOff x="2300350" y="2601250"/>
            <a:chExt cx="2275275" cy="623625"/>
          </a:xfrm>
        </p:grpSpPr>
        <p:sp>
          <p:nvSpPr>
            <p:cNvPr id="4335" name="Google Shape;4335;p6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6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6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6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6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6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1" name="Google Shape;4341;p63"/>
          <p:cNvGrpSpPr/>
          <p:nvPr/>
        </p:nvGrpSpPr>
        <p:grpSpPr>
          <a:xfrm>
            <a:off x="7672192" y="1903729"/>
            <a:ext cx="1823016" cy="296643"/>
            <a:chOff x="7857346" y="3902355"/>
            <a:chExt cx="1823016" cy="296643"/>
          </a:xfrm>
        </p:grpSpPr>
        <p:sp>
          <p:nvSpPr>
            <p:cNvPr id="4342" name="Google Shape;4342;p6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63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63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6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6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63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8" name="Google Shape;4348;p63"/>
          <p:cNvGrpSpPr/>
          <p:nvPr/>
        </p:nvGrpSpPr>
        <p:grpSpPr>
          <a:xfrm rot="5400000">
            <a:off x="4397925" y="1382925"/>
            <a:ext cx="98902" cy="553090"/>
            <a:chOff x="4898850" y="4820550"/>
            <a:chExt cx="98902" cy="553090"/>
          </a:xfrm>
        </p:grpSpPr>
        <p:sp>
          <p:nvSpPr>
            <p:cNvPr id="4349" name="Google Shape;4349;p6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6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6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6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6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4" name="Google Shape;4354;p63"/>
          <p:cNvGrpSpPr/>
          <p:nvPr/>
        </p:nvGrpSpPr>
        <p:grpSpPr>
          <a:xfrm>
            <a:off x="5564542" y="4282016"/>
            <a:ext cx="1105976" cy="133969"/>
            <a:chOff x="8183182" y="663852"/>
            <a:chExt cx="1475028" cy="178673"/>
          </a:xfrm>
        </p:grpSpPr>
        <p:grpSp>
          <p:nvGrpSpPr>
            <p:cNvPr id="4355" name="Google Shape;4355;p6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4356" name="Google Shape;4356;p6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6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6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6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6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6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6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6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6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6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6" name="Google Shape;4366;p6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4367" name="Google Shape;4367;p6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6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6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6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6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6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6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6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6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6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413</Words>
  <Application>Microsoft Office PowerPoint</Application>
  <PresentationFormat>On-screen Show (16:9)</PresentationFormat>
  <Paragraphs>61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Roboto Condensed Light</vt:lpstr>
      <vt:lpstr>PT Sans</vt:lpstr>
      <vt:lpstr>Exo</vt:lpstr>
      <vt:lpstr>Data Center Business Plan by Slidesgo</vt:lpstr>
      <vt:lpstr>MATURSKI RAD  DESKTOP APLKACIJA ZA PRODAJU ODJEĆE</vt:lpstr>
      <vt:lpstr>SADRŽAJ</vt:lpstr>
      <vt:lpstr>UVOD</vt:lpstr>
      <vt:lpstr> UVOD</vt:lpstr>
      <vt:lpstr>                 C# </vt:lpstr>
      <vt:lpstr>C#</vt:lpstr>
      <vt:lpstr>VISUAL STUDIO </vt:lpstr>
      <vt:lpstr>VISUAL STUDIO </vt:lpstr>
      <vt:lpstr>SQL SEVER MANAGMENT STUDIO </vt:lpstr>
      <vt:lpstr>SQL SERVER MANAGMENT STUDIO</vt:lpstr>
      <vt:lpstr>ER DIJAGRAM</vt:lpstr>
      <vt:lpstr>                                             ER DIJAGRAM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MATURSKI RAD  DESKTOP APLKACIJA ZA PRODAJU ODJEĆE</dc:title>
  <dc:creator>pc</dc:creator>
  <cp:lastModifiedBy>pc</cp:lastModifiedBy>
  <cp:revision>22</cp:revision>
  <dcterms:modified xsi:type="dcterms:W3CDTF">2022-05-23T09:09:45Z</dcterms:modified>
</cp:coreProperties>
</file>